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Cumulative average schedule variance (days)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Titan (Outokumpu)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12-05</c:v>
                  </c:pt>
                  <c:pt idx="1">
                    <c:v>02-03</c:v>
                  </c:pt>
                  <c:pt idx="2">
                    <c:v>02-20</c:v>
                  </c:pt>
                  <c:pt idx="3">
                    <c:v>03-20</c:v>
                  </c:pt>
                  <c:pt idx="4">
                    <c:v>03-26</c:v>
                  </c:pt>
                  <c:pt idx="5">
                    <c:v>04-03</c:v>
                  </c:pt>
                  <c:pt idx="6">
                    <c:v>04-09</c:v>
                  </c:pt>
                  <c:pt idx="7">
                    <c:v>05-19</c:v>
                  </c:pt>
                  <c:pt idx="8">
                    <c:v>06-16</c:v>
                  </c:pt>
                  <c:pt idx="9">
                    <c:v>06-26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0.6</c:v>
                </c:pt>
                <c:pt idx="3">
                  <c:v>-0.6</c:v>
                </c:pt>
                <c:pt idx="4">
                  <c:v>-2.7</c:v>
                </c:pt>
                <c:pt idx="5">
                  <c:v>-4.6</c:v>
                </c:pt>
                <c:pt idx="6">
                  <c:v>-5.8</c:v>
                </c:pt>
                <c:pt idx="7">
                  <c:v>-5.3</c:v>
                </c:pt>
                <c:pt idx="8">
                  <c:v>-5.7</c:v>
                </c:pt>
                <c:pt idx="9">
                  <c:v>-5.8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UniSan</c:v>
                </c:pt>
              </c:strCache>
            </c:strRef>
          </c:tx>
          <c:spPr>
            <a:solidFill>
              <a:srgbClr val="2E9E6D"/>
            </a:solidFill>
            <a:ln w="38100" cap="flat">
              <a:solidFill>
                <a:srgbClr val="2E9E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9E6D"/>
              </a:solidFill>
              <a:ln w="9525" cap="flat">
                <a:solidFill>
                  <a:srgbClr val="2E9E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02-11</c:v>
                  </c:pt>
                  <c:pt idx="1">
                    <c:v>03-09</c:v>
                  </c:pt>
                  <c:pt idx="2">
                    <c:v>03-17</c:v>
                  </c:pt>
                  <c:pt idx="3">
                    <c:v>04-16</c:v>
                  </c:pt>
                  <c:pt idx="4">
                    <c:v>04-27</c:v>
                  </c:pt>
                  <c:pt idx="5">
                    <c:v>05-05</c:v>
                  </c:pt>
                  <c:pt idx="6">
                    <c:v>05-08</c:v>
                  </c:pt>
                  <c:pt idx="7">
                    <c:v>05-26</c:v>
                  </c:pt>
                  <c:pt idx="8">
                    <c:v>06-02</c:v>
                  </c:pt>
                  <c:pt idx="9">
                    <c:v>06-03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0.9</c:v>
                </c:pt>
                <c:pt idx="2">
                  <c:v>1.9</c:v>
                </c:pt>
                <c:pt idx="3">
                  <c:v>1.3</c:v>
                </c:pt>
                <c:pt idx="4">
                  <c:v>1.1</c:v>
                </c:pt>
                <c:pt idx="5">
                  <c:v>0.9</c:v>
                </c:pt>
                <c:pt idx="6">
                  <c:v>0.9</c:v>
                </c:pt>
                <c:pt idx="7">
                  <c:v>1</c:v>
                </c:pt>
                <c:pt idx="8">
                  <c:v>0.8</c:v>
                </c:pt>
                <c:pt idx="9">
                  <c:v>0.9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D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4748B"/>
                    </a:solidFill>
                    <a:latin typeface="Arial"/>
                  </a:rPr>
                  <a:t>days vs. baseline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Owner concentration (% of tasks held by busiest owner)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Busiest owner's share of tasks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Titan</c:v>
                  </c:pt>
                  <c:pt idx="1">
                    <c:v>UniSan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66.7</c:v>
                </c:pt>
                <c:pt idx="1">
                  <c:v>19.1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9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Logged status comments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Titan (Aftab)</c:v>
                  </c:pt>
                  <c:pt idx="1">
                    <c:v>UniSan (Rajat)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3F6F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2194560"/>
            <a:ext cx="5486400" cy="5486400"/>
          </a:xfrm>
          <a:prstGeom prst="ellipse">
            <a:avLst/>
          </a:prstGeom>
          <a:solidFill>
            <a:srgbClr val="1E2761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383280"/>
            <a:ext cx="3108960" cy="310896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  ·   MONTHLY EXECUTIVE SYNTHESIS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755648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Health Review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S2P Implementation Programs — Titan (Outokumpu) &amp; UniSan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2735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989320"/>
            <a:ext cx="10881360" cy="18288"/>
          </a:xfrm>
          <a:prstGeom prst="rect">
            <a:avLst/>
          </a:prstGeom>
          <a:solidFill>
            <a:srgbClr val="2C376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61081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automatically by the Project Health Reporting Agent  ·  Deterministic scoring, LLM-assisted narrative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programs read Red today — for very different reasons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Portfolio Health Review  ·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3F6FD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— Outokumpu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673352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1673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Titan S2P Implementation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0120" y="2441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PM: Aftab Hashambhai  ·  Active phase: Configuration and Build phase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960120" y="36301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/ 100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28346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108960" y="3630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17720" y="28346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62.6%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3630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slipped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0120" y="4114800"/>
            <a:ext cx="4572000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status: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4544568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critical-path task(s) have slipped their baseline. 3 task(s) are On Hold: Supplier Notification template, OTK to share D&amp;B creds, Enable D &amp; B App.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3F6FD"/>
          </a:solidFill>
          <a:ln w="12700">
            <a:solidFill>
              <a:srgbClr val="E3E9F5"/>
            </a:solidFill>
            <a:prstDash val="solid"/>
          </a:ln>
          <a:effectLst>
            <a:outerShdw sx="100000" sy="100000" kx="0" ky="0" algn="bl" rotWithShape="0" blurRad="127000" dist="38100" dir="5400000">
              <a:srgbClr val="1E2761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104120" y="1673352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10104120" y="1673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20391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UniSan S2P Implementation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629400" y="24414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PM: Rajat Bothra  ·  Active phase: Training Phase 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29400" y="28346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91.2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6629400" y="36301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/ 100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778240" y="28346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8778240" y="3630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287000" y="28346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10287000" y="3630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slipped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4114800"/>
            <a:ext cx="4572000" cy="0"/>
          </a:xfrm>
          <a:prstGeom prst="line">
            <a:avLst/>
          </a:prstGeom>
          <a:noFill/>
          <a:ln w="12700">
            <a:solidFill>
              <a:srgbClr val="E3E9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status: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629400" y="4544568"/>
            <a:ext cx="45720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phase(s) are Red, including possibly the active phase.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ACROSS PROJECTS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drift is compounding on Titan — and acute, not chronic, on UniSan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Portfolio Health Review  ·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37160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37160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3F6FD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15361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818120" y="182880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are compounding: mean variance moved from on-time to −11.2 days and is still trending down, not flattening. Float is being consumed faster than it's recovered.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543800" y="361188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F3F6FD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37764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818120" y="4069080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schedule is healthy (+1.2 days, 0.8% of tasks slipped) — but the currently active phase, Training Phase I, is itself Red. This is a live blocker, not historical drag.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THEME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Resourcing concentration is a bus-factor risk on Titan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Portfolio Health Review  ·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41732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40880" y="14630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1618488"/>
            <a:ext cx="374904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0956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909560" y="18653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owners on Titan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909560" y="21031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26 on UniSan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040880" y="260604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2761488"/>
            <a:ext cx="374904" cy="374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09560" y="2532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66.7%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7909560" y="300837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Titan's tasks sit with one owner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909560" y="32461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19.1% on UniSan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040880" y="3794760"/>
            <a:ext cx="4480560" cy="1828800"/>
          </a:xfrm>
          <a:prstGeom prst="roundRect">
            <a:avLst>
              <a:gd name="adj" fmla="val 4000"/>
            </a:avLst>
          </a:prstGeom>
          <a:solidFill>
            <a:srgbClr val="F3F6FD"/>
          </a:solidFill>
          <a:ln/>
        </p:spPr>
      </p:sp>
      <p:sp>
        <p:nvSpPr>
          <p:cNvPr id="18" name="Text 13"/>
          <p:cNvSpPr/>
          <p:nvPr/>
        </p:nvSpPr>
        <p:spPr>
          <a:xfrm>
            <a:off x="7315200" y="3977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315200" y="42519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Cross-train a second owner onto Titan's critical-path tasks now, before the busiest owner becomes a single point of failure during the remaining Configuration &amp; Build work.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THEME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Blockers cluster on the client side — and reporting habits diverge by PM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Portfolio Health Review  ·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3F6FD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72821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57276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 dependencies are the dominant blocker type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23317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currently has 3 tasks On Hold, and all trace back to items waiting on the client rather than on Zycus-side effort: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005840" y="300837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1207008" y="2926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Notification template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05840" y="3392424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1207008" y="33101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OTK to share D&amp;B creds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05840" y="3776472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3"/>
          <p:cNvSpPr/>
          <p:nvPr/>
        </p:nvSpPr>
        <p:spPr>
          <a:xfrm>
            <a:off x="1207008" y="36941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 &amp; B App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60120" y="4215384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currently has none on hold — but its low task-level detail (no status comments logged) means emerging client-side blockers there may simply be under-reported rather than absent.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55080" y="137160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3F6FD"/>
          </a:solidFill>
          <a:ln/>
        </p:spPr>
      </p:sp>
      <p:sp>
        <p:nvSpPr>
          <p:cNvPr id="19" name="Shape 16"/>
          <p:cNvSpPr/>
          <p:nvPr/>
        </p:nvSpPr>
        <p:spPr>
          <a:xfrm>
            <a:off x="662940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16" y="1728216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360920" y="1572768"/>
            <a:ext cx="3886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discipline varies by PM — and it shows in the data</a:t>
            </a:r>
            <a:endParaRPr lang="en-US" sz="15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675120" y="2286000"/>
          <a:ext cx="452628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 18"/>
          <p:cNvSpPr/>
          <p:nvPr/>
        </p:nvSpPr>
        <p:spPr>
          <a:xfrm>
            <a:off x="6675120" y="44348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blocker-context signals are only computable where PMs log commentary. Standardizing this is the single highest-leverage data fix for next cycle's reporting.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RISKS &amp;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portfolio-level actions for this cycle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Portfolio Health Review  ·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3F6FD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37944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39112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69164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weekly status-comment logging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965960" y="2130552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a required field across all project plans. Sentiment and blocker-context signals are currently unavailable on UniSan for exactly this reason.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3F6FD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3438144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639312"/>
            <a:ext cx="374904" cy="3749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5960" y="329184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Budget Burn column to the plan template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965960" y="3730752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project in the portfolio currently tracks cost data, so today's RAG is schedule-and-execution-only. This is the fastest way to close that gap next cycle.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709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3F6FD"/>
          </a:solidFill>
          <a:ln/>
        </p:spPr>
      </p:sp>
      <p:sp>
        <p:nvSpPr>
          <p:cNvPr id="17" name="Shape 13"/>
          <p:cNvSpPr/>
          <p:nvPr/>
        </p:nvSpPr>
        <p:spPr>
          <a:xfrm>
            <a:off x="914400" y="5038344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5239512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4892040"/>
            <a:ext cx="923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a client-readiness checklist at kickoff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965960" y="5330952"/>
            <a:ext cx="9235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Credentials, sample data, and named approvers — captured up front — would pull Titan's current on-hold items earlier, before they sit on the critical path.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931920"/>
            <a:ext cx="5029200" cy="50292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34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transparency, on request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status on this deck traces back to a reproducible reasoning trail — the same signals, weights, and overrides defined in the RAG methodology, run against each project's live plan.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09067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RAG methodology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9359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reports per project, with full reasoning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096512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agent — code, tests, and run instructions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822960" y="5989320"/>
            <a:ext cx="10515600" cy="18288"/>
          </a:xfrm>
          <a:prstGeom prst="rect">
            <a:avLst/>
          </a:prstGeom>
          <a:solidFill>
            <a:srgbClr val="2C3768"/>
          </a:solidFill>
          <a:ln/>
        </p:spPr>
      </p:sp>
      <p:sp>
        <p:nvSpPr>
          <p:cNvPr id="12" name="Text 7"/>
          <p:cNvSpPr/>
          <p:nvPr/>
        </p:nvSpPr>
        <p:spPr>
          <a:xfrm>
            <a:off x="822960" y="61081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monthly review: early August 2026  ·  Weekly reports run automatically every Monday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Services Portfolio Health Review</dc:title>
  <dc:subject>PptxGenJS Presentation</dc:subject>
  <dc:creator>Project Health Reporting Agent</dc:creator>
  <cp:lastModifiedBy>Project Health Reporting Agent</cp:lastModifiedBy>
  <cp:revision>1</cp:revision>
  <dcterms:created xsi:type="dcterms:W3CDTF">2026-07-08T15:54:24Z</dcterms:created>
  <dcterms:modified xsi:type="dcterms:W3CDTF">2026-07-08T15:54:24Z</dcterms:modified>
</cp:coreProperties>
</file>